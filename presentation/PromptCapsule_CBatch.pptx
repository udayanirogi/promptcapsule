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"/>
              </a:rPr>
              <a:t>PromptCapsule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4B8A6"/>
                </a:solidFill>
                <a:latin typeface="Calibri"/>
              </a:rPr>
              <a:t>Lossless Prompt Packaging &amp; Retrieval  ·  v0.1.5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66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C-Batch  ·  Hybrid packaging  ·  Agent handoff  ·  Security-hardened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669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0F7F6"/>
                </a:solidFill>
                <a:latin typeface="Calibri"/>
              </a:rPr>
              <a:t>pip install promptcapsule==0.1.5   ·   github.com/UdayaNirogi/promptcapsule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F3A"/>
                </a:solidFill>
                <a:latin typeface="Calibri"/>
              </a:rPr>
              <a:t>1  ·  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4A5568"/>
                </a:solidFill>
                <a:latin typeface="Calibri"/>
              </a:rPr>
              <a:t>Teams need exact prompt reuse — not lossy “semantic compression.”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3474720" cy="2194560"/>
          </a:xfrm>
          <a:prstGeom prst="roundRect">
            <a:avLst/>
          </a:prstGeom>
          <a:solidFill>
            <a:srgbClr val="F0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9488"/>
                </a:solidFill>
                <a:latin typeface="Calibri"/>
              </a:rPr>
              <a:t>Share exact prompts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3108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B1F3A"/>
                </a:solidFill>
                <a:latin typeface="Calibri"/>
              </a:rPr>
              <a:t>Same system prompt across apps,
PRs, and environments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645920"/>
            <a:ext cx="3474720" cy="2194560"/>
          </a:xfrm>
          <a:prstGeom prst="roundRect">
            <a:avLst/>
          </a:prstGeom>
          <a:solidFill>
            <a:srgbClr val="F0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0" y="18288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9488"/>
                </a:solidFill>
                <a:latin typeface="Calibri"/>
              </a:rPr>
              <a:t>Shrink the handle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377440"/>
            <a:ext cx="3108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B1F3A"/>
                </a:solidFill>
                <a:latin typeface="Calibri"/>
              </a:rPr>
              <a:t>Multi-KB prompts → short,
portable capsule string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1645920"/>
            <a:ext cx="3474720" cy="2194560"/>
          </a:xfrm>
          <a:prstGeom prst="roundRect">
            <a:avLst/>
          </a:prstGeom>
          <a:solidFill>
            <a:srgbClr val="F0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59" y="18288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9488"/>
                </a:solidFill>
                <a:latin typeface="Calibri"/>
              </a:rPr>
              <a:t>Prove integrity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59" y="2377440"/>
            <a:ext cx="3108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B1F3A"/>
                </a:solidFill>
                <a:latin typeface="Calibri"/>
              </a:rPr>
              <a:t>SHA-256 verification on
every reconstruct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206240"/>
            <a:ext cx="11247120" cy="1737360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389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B8A6"/>
                </a:solidFill>
                <a:latin typeface="Calibri"/>
              </a:rPr>
              <a:t>Two things people confuse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46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Type 1 — True compression: entropy-limited; good for small text; no storage.
Type 2 — Key-based retrieval: short ID → full prompt from a vault; solves long prompts.
PromptCapsule does BOTH, automatically, with checksums.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Calibri"/>
              </a:rPr>
              <a:t>PromptCapsule  ·  C-Batch  ·  2/8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F3A"/>
                </a:solidFill>
                <a:latin typeface="Calibri"/>
              </a:rPr>
              <a:t>2  ·  What Exactly Is This?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914400"/>
            <a:ext cx="11247120" cy="1371600"/>
          </a:xfrm>
          <a:prstGeom prst="roundRect">
            <a:avLst/>
          </a:prstGeom>
          <a:solidFill>
            <a:srgbClr val="F0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B1F3A"/>
                </a:solidFill>
                <a:latin typeface="Calibri"/>
              </a:rPr>
              <a:t>Abstract: PromptCapsule turns LLM prompt text into a portable capsule and reconstructs it byte-for-byte. Inline (≤500 bytes): zlib+Base85. Vault (&gt;500 bytes): short key into a shared store. Limits: 10 MiB max prompt/zlib. Default decompress is fail-closed. Suite: 81 automated tests.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60320"/>
            <a:ext cx="347472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7889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D9488"/>
                </a:solidFill>
                <a:latin typeface="Calibri"/>
              </a:rPr>
              <a:t>500 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38328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0B1F3A"/>
                </a:solidFill>
                <a:latin typeface="Calibri"/>
              </a:rPr>
              <a:t>Inline threshold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0" y="2560320"/>
            <a:ext cx="347472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27889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D9488"/>
                </a:solidFill>
                <a:latin typeface="Calibri"/>
              </a:rPr>
              <a:t>10 MiB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338328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0B1F3A"/>
                </a:solidFill>
                <a:latin typeface="Calibri"/>
              </a:rPr>
              <a:t>Max prompt / zlib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79" y="2560320"/>
            <a:ext cx="347472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2439" y="27889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D9488"/>
                </a:solidFill>
                <a:latin typeface="Calibri"/>
              </a:rPr>
              <a:t>SHA-256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39" y="338328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0B1F3A"/>
                </a:solidFill>
                <a:latin typeface="Calibri"/>
              </a:rPr>
              <a:t>Fail-closed verify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206240"/>
            <a:ext cx="347472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348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D9488"/>
                </a:solidFill>
                <a:latin typeface="Calibri"/>
              </a:rPr>
              <a:t>81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02920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0B1F3A"/>
                </a:solidFill>
                <a:latin typeface="Calibri"/>
              </a:rPr>
              <a:t>Automated tests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06240" y="4206240"/>
            <a:ext cx="347472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43400" y="44348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D9488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502920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0B1F3A"/>
                </a:solidFill>
                <a:latin typeface="Calibri"/>
              </a:rPr>
              <a:t>Pluggable backends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79" y="4206240"/>
            <a:ext cx="347472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92439" y="44348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D9488"/>
                </a:solidFill>
                <a:latin typeface="Calibri"/>
              </a:rPr>
              <a:t>0.1.5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39" y="502920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0B1F3A"/>
                </a:solidFill>
                <a:latin typeface="Calibri"/>
              </a:rPr>
              <a:t>Current release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Calibri"/>
              </a:rPr>
              <a:t>PromptCapsule  ·  C-Batch  ·  3/8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B1F3A"/>
                </a:solidFill>
                <a:latin typeface="Calibri"/>
              </a:rPr>
              <a:t>3  ·  Product Infographic</a:t>
            </a:r>
          </a:p>
        </p:txBody>
      </p:sp>
      <p:pic>
        <p:nvPicPr>
          <p:cNvPr id="3" name="Picture 2" descr="promptcapsule_infograph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548640"/>
            <a:ext cx="11521440" cy="64808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Calibri"/>
              </a:rPr>
              <a:t>PromptCapsule  ·  C-Batch  ·  4/8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B1F3A"/>
                </a:solidFill>
                <a:latin typeface="Calibri"/>
              </a:rPr>
              <a:t>4  ·  Technical Design — Hybrid Architecture</a:t>
            </a:r>
          </a:p>
        </p:txBody>
      </p:sp>
      <p:pic>
        <p:nvPicPr>
          <p:cNvPr id="3" name="Picture 2" descr="ppt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502920"/>
            <a:ext cx="11612880" cy="65322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Calibri"/>
              </a:rPr>
              <a:t>PromptCapsule  ·  C-Batch  ·  5/8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B1F3A"/>
                </a:solidFill>
                <a:latin typeface="Calibri"/>
              </a:rPr>
              <a:t>5  ·  Limits &amp; Security</a:t>
            </a:r>
          </a:p>
        </p:txBody>
      </p:sp>
      <p:pic>
        <p:nvPicPr>
          <p:cNvPr id="3" name="Picture 2" descr="ppt_quantif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502920"/>
            <a:ext cx="7498079" cy="4217669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863840" y="640080"/>
            <a:ext cx="3931920" cy="5303520"/>
          </a:xfrm>
          <a:prstGeom prst="roundRect">
            <a:avLst/>
          </a:prstGeom>
          <a:solidFill>
            <a:srgbClr val="F0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0" y="8229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D9488"/>
                </a:solidFill>
                <a:latin typeface="Calibri"/>
              </a:rPr>
              <a:t>Hardening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23444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B1F3A"/>
                </a:solidFill>
                <a:latin typeface="Calibri"/>
              </a:rPr>
              <a:t>Limits:
• Inline ≤ 500 bytes
• Max size 10 MiB
Fixed in library:
• Fail-closed IntegrityError
• Invalid prefixes rejected
• zlib expansion capped
• Unguessable vault keys
• No vault plaintext leak
• Base85 junk rejected
• S3 prefix + Gist owner
Still limitations:
• Not encryption
• Not authentication
• Not a full MAC
• Demo HTTP bus OOS
81 automated tests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Calibri"/>
              </a:rPr>
              <a:t>PromptCapsule  ·  C-Batch  ·  6/8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Calibri"/>
              </a:rPr>
              <a:t>6  ·  Agent-to-Agent Communication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A5568"/>
                </a:solidFill>
                <a:latin typeface="Calibri"/>
              </a:rPr>
              <a:t>Potential: agents pass a capsule, then reconstruct the exact prompt with a checksum.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3566160" cy="1554480"/>
          </a:xfrm>
          <a:prstGeom prst="roundRect">
            <a:avLst/>
          </a:prstGeom>
          <a:solidFill>
            <a:srgbClr val="F0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D9488"/>
                </a:solidFill>
                <a:latin typeface="Calibri"/>
              </a:rPr>
              <a:t>1  Agent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B1F3A"/>
                </a:solidFill>
                <a:latin typeface="Calibri"/>
              </a:rPr>
              <a:t>Packs context
compress(prompt)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188720"/>
            <a:ext cx="3566160" cy="1554480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1325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B8A6"/>
                </a:solidFill>
                <a:latin typeface="Calibri"/>
              </a:rPr>
              <a:t>2  Message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178308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Sends only the
capsule string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188720"/>
            <a:ext cx="3566160" cy="1554480"/>
          </a:xfrm>
          <a:prstGeom prst="roundRect">
            <a:avLst/>
          </a:prstGeom>
          <a:solidFill>
            <a:srgbClr val="F0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1325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D9488"/>
                </a:solidFill>
                <a:latin typeface="Calibri"/>
              </a:rPr>
              <a:t>3  Agent 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178308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B1F3A"/>
                </a:solidFill>
                <a:latin typeface="Calibri"/>
              </a:rPr>
              <a:t>Unpacks + checks
decompress → verified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356616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1089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9488"/>
                </a:solidFill>
                <a:latin typeface="Calibri"/>
              </a:rPr>
              <a:t>Inline capsule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56616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B1F3A"/>
                </a:solidFill>
                <a:latin typeface="Calibri"/>
              </a:rPr>
              <a:t>Self-contained. No shared store.
Best for short instructions between agents.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2971800"/>
            <a:ext cx="356616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0" y="31089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9488"/>
                </a:solidFill>
                <a:latin typeface="Calibri"/>
              </a:rPr>
              <a:t>Vault capsule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356616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B1F3A"/>
                </a:solidFill>
                <a:latin typeface="Calibri"/>
              </a:rPr>
              <a:t>Shared backend = shared memory.
Long context stays in SQLite / Gist / S3.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60" y="2971800"/>
            <a:ext cx="356616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31089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9488"/>
                </a:solidFill>
                <a:latin typeface="Calibri"/>
              </a:rPr>
              <a:t>Integrity gate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356616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B1F3A"/>
                </a:solidFill>
                <a:latin typeface="Calibri"/>
              </a:rPr>
              <a:t>strict=True → IntegrityError on fail.
Vault bind failure returns empty text.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84632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5568"/>
                </a:solidFill>
                <a:latin typeface="Calibri"/>
              </a:rPr>
              <a:t>v0.1.5: packaging + retrieval — not encryption / not auth. Gist require_owner by default.
Both agents must share the same vault for vault-mode. Inline capsules travel alone.
Automated test suite: 81 tests (core + security).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Calibri"/>
              </a:rPr>
              <a:t>PromptCapsule  ·  C-Batch  ·  7/8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7  ·  Takeaways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7F6"/>
                </a:solidFill>
                <a:latin typeface="Calibri"/>
              </a:rPr>
              <a:t>→  PromptCapsule = lossless packaging + vault retrieval + fail-closed integrity
→  Limits: ≤500B inline · 10 MiB max · unguessable keys · 81 automated tests
→  Open limitations: not encryption, not auth, 8-hex checksum is not a MAC
→  Agent pattern: decompress(strict=True); reject on IntegrityError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B8A6"/>
                </a:solidFill>
                <a:latin typeface="Calibri"/>
              </a:rPr>
              <a:t>Resources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720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pip install promptcapsule==0.1.5
https://github.com/UdayaNirogi/promptcapsule
https://pypi.org/project/promptcapsule/0.1.5/
Docs: ABSTRACT.md · TECHNICAL_DESIGN.md · README (limits &amp; security)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Calibri"/>
              </a:rPr>
              <a:t>PromptCapsule  ·  C-Batch  ·  8/8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